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371600" y="1371600"/>
            <a:ext cx="4572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920240" y="1207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ZHONGBANG · EST. 2003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>
                <a:solidFill>
                  <a:srgbClr val="F5F0E8"/>
                </a:solidFill>
                <a:latin typeface="思源宋体"/>
                <a:ea typeface="思源宋体"/>
              </a:rPr>
              <a:t>走出浙江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0">
                <a:solidFill>
                  <a:srgbClr val="B8924A"/>
                </a:solidFill>
                <a:latin typeface="Times New Roman"/>
                <a:ea typeface="Times New Roman"/>
              </a:rPr>
              <a:t>共赢银龄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F0E8"/>
                </a:solidFill>
                <a:latin typeface="思源宋体"/>
                <a:ea typeface="思源宋体"/>
              </a:rPr>
              <a:t>众邦康养 · 2026 年度战略部署会议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A86A"/>
                </a:solidFill>
                <a:latin typeface="思源黑体"/>
                <a:ea typeface="思源黑体"/>
              </a:rPr>
              <a:t>从一张床位，到智慧银龄全生态  ·  下一个征程，走出浙江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0" y="1371600"/>
            <a:ext cx="914400" cy="914400"/>
          </a:xfrm>
          <a:prstGeom prst="rect">
            <a:avLst/>
          </a:prstGeom>
          <a:solidFill>
            <a:srgbClr val="14110F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554480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思源宋体"/>
                <a:ea typeface="思源宋体"/>
              </a:rPr>
              <a:t>众邦</a:t>
            </a:r>
          </a:p>
          <a:p>
            <a:pPr algn="ctr"/>
            <a:r>
              <a:rPr sz="1200" b="1">
                <a:solidFill>
                  <a:srgbClr val="8B1A1A"/>
                </a:solidFill>
                <a:latin typeface="思源宋体"/>
                <a:ea typeface="思源宋体"/>
              </a:rPr>
              <a:t>康养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01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37160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0" b="0">
                <a:solidFill>
                  <a:srgbClr val="B8924A"/>
                </a:solidFill>
                <a:latin typeface="Times New Roman"/>
                <a:ea typeface="Times New Roman"/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F5F0E8"/>
                </a:solidFill>
                <a:latin typeface="思源宋体"/>
                <a:ea typeface="思源宋体"/>
              </a:rPr>
              <a:t>养老不是「等天黑」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B8924A"/>
                </a:solidFill>
                <a:latin typeface="思源宋体"/>
                <a:ea typeface="思源宋体"/>
              </a:rPr>
              <a:t>是「把灯点亮」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41848" y="4937760"/>
            <a:ext cx="9144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28800" y="5120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9A86A"/>
                </a:solidFill>
                <a:latin typeface="思源黑体"/>
                <a:ea typeface="思源黑体"/>
              </a:rPr>
              <a:t>— 众邦康养创始人 · 杨树清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02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457200"/>
            <a:ext cx="3657600" cy="548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0" b="0">
                <a:solidFill>
                  <a:srgbClr val="2C2823"/>
                </a:solidFill>
                <a:latin typeface="Times New Roman"/>
                <a:ea typeface="Times New Roman"/>
              </a:rPr>
              <a:t>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743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CHAPTER 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2907792"/>
            <a:ext cx="3657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0" y="2743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CHAPTER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29184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5F0E8"/>
                </a:solidFill>
                <a:latin typeface="思源宋体"/>
                <a:ea typeface="思源宋体"/>
              </a:rPr>
              <a:t>回 望 来 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4572000"/>
            <a:ext cx="13716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0" y="475488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9A86A"/>
                </a:solidFill>
                <a:latin typeface="思源黑体"/>
                <a:ea typeface="思源黑体"/>
              </a:rPr>
              <a:t>二十三年深耕康养，从一个人、一扇门、一张床位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2064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9A86A"/>
                </a:solidFill>
                <a:latin typeface="思源黑体"/>
                <a:ea typeface="思源黑体"/>
              </a:rPr>
              <a:t>到智慧银龄全生态平台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03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2003 — 2026 · 历程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21792"/>
            <a:ext cx="3657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2003 — 2026 · 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0E8"/>
                </a:solidFill>
                <a:latin typeface="思源宋体"/>
                <a:ea typeface="思源宋体"/>
              </a:rPr>
              <a:t>四步跃迁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B8924A"/>
                </a:solidFill>
                <a:latin typeface="Times New Roman"/>
                <a:ea typeface="Times New Roman"/>
              </a:rPr>
              <a:t>从一张床位到一个生态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3017520"/>
            <a:ext cx="96012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11680" y="2944368"/>
            <a:ext cx="146304" cy="146304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9A86A"/>
                </a:solidFill>
                <a:latin typeface="Times New Roman"/>
                <a:ea typeface="Times New Roman"/>
              </a:rPr>
              <a:t>2003 — 2012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8924A"/>
                </a:solidFill>
                <a:latin typeface="思源宋体"/>
                <a:ea typeface="思源宋体"/>
              </a:rPr>
              <a:t>起步探索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0" y="2944368"/>
            <a:ext cx="146304" cy="146304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2860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9A86A"/>
                </a:solidFill>
                <a:latin typeface="Times New Roman"/>
                <a:ea typeface="Times New Roman"/>
              </a:rPr>
              <a:t>2013 — 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291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8924A"/>
                </a:solidFill>
                <a:latin typeface="思源宋体"/>
                <a:ea typeface="思源宋体"/>
              </a:rPr>
              <a:t>医养融合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2944368"/>
            <a:ext cx="146304" cy="146304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2860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9A86A"/>
                </a:solidFill>
                <a:latin typeface="Times New Roman"/>
                <a:ea typeface="Times New Roman"/>
              </a:rPr>
              <a:t>2019 —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91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8924A"/>
                </a:solidFill>
                <a:latin typeface="思源宋体"/>
                <a:ea typeface="思源宋体"/>
              </a:rPr>
              <a:t>规模扩张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2944368"/>
            <a:ext cx="146304" cy="146304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2860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9A86A"/>
                </a:solidFill>
                <a:latin typeface="Times New Roman"/>
                <a:ea typeface="Times New Roman"/>
              </a:rPr>
              <a:t>2023 —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291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8924A"/>
                </a:solidFill>
                <a:latin typeface="思源宋体"/>
                <a:ea typeface="思源宋体"/>
              </a:rPr>
              <a:t>生态跃迁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3840480"/>
            <a:ext cx="0" cy="182880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38404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8924A"/>
                </a:solidFill>
                <a:latin typeface="Times New Roman"/>
                <a:ea typeface="Times New Roman"/>
              </a:rPr>
              <a:t>2003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0E8"/>
                </a:solidFill>
                <a:latin typeface="思源宋体"/>
                <a:ea typeface="思源宋体"/>
              </a:rPr>
              <a:t>品牌启航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思源黑体"/>
                <a:ea typeface="思源黑体"/>
              </a:rPr>
              <a:t>创始人入局康养赛道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60320" y="3840480"/>
            <a:ext cx="0" cy="182880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43200" y="38404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8924A"/>
                </a:solidFill>
                <a:latin typeface="Times New Roman"/>
                <a:ea typeface="Times New Roman"/>
              </a:rPr>
              <a:t>2013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2976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0E8"/>
                </a:solidFill>
                <a:latin typeface="思源宋体"/>
                <a:ea typeface="思源宋体"/>
              </a:rPr>
              <a:t>医疗底座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75488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思源黑体"/>
                <a:ea typeface="思源黑体"/>
              </a:rPr>
              <a:t>金华首家二级康复医院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89120" y="3840480"/>
            <a:ext cx="0" cy="182880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0" y="38404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8924A"/>
                </a:solidFill>
                <a:latin typeface="Times New Roman"/>
                <a:ea typeface="Times New Roman"/>
              </a:rPr>
              <a:t>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2976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0E8"/>
                </a:solidFill>
                <a:latin typeface="思源宋体"/>
                <a:ea typeface="思源宋体"/>
              </a:rPr>
              <a:t>公建民营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75488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思源黑体"/>
                <a:ea typeface="思源黑体"/>
              </a:rPr>
              <a:t>金华首个公建民营项目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0" y="3840480"/>
            <a:ext cx="0" cy="182880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0" y="38404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8924A"/>
                </a:solidFill>
                <a:latin typeface="Times New Roman"/>
                <a:ea typeface="Times New Roman"/>
              </a:rPr>
              <a:t>2019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976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0E8"/>
                </a:solidFill>
                <a:latin typeface="思源宋体"/>
                <a:ea typeface="思源宋体"/>
              </a:rPr>
              <a:t>网络铺开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5488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思源黑体"/>
                <a:ea typeface="思源黑体"/>
              </a:rPr>
              <a:t>17 家居家养老服务中心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46719" y="3840480"/>
            <a:ext cx="0" cy="182880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9600" y="38404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8924A"/>
                </a:solidFill>
                <a:latin typeface="Times New Roman"/>
                <a:ea typeface="Times New Roman"/>
              </a:rPr>
              <a:t>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2976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0E8"/>
                </a:solidFill>
                <a:latin typeface="思源宋体"/>
                <a:ea typeface="思源宋体"/>
              </a:rPr>
              <a:t>高端布局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75488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思源黑体"/>
                <a:ea typeface="思源黑体"/>
              </a:rPr>
              <a:t>积道山康养小镇落地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875519" y="3840480"/>
            <a:ext cx="0" cy="182880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058400" y="38404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8924A"/>
                </a:solidFill>
                <a:latin typeface="Times New Roman"/>
                <a:ea typeface="Times New Roman"/>
              </a:rPr>
              <a:t>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42976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0E8"/>
                </a:solidFill>
                <a:latin typeface="思源宋体"/>
                <a:ea typeface="思源宋体"/>
              </a:rPr>
              <a:t>走出浙江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475488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思源黑体"/>
                <a:ea typeface="思源黑体"/>
              </a:rPr>
              <a:t>悦年优护品牌市场化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04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品牌定位 · POSITIONING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21792"/>
            <a:ext cx="3657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品牌定位 ·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5F0E8"/>
                </a:solidFill>
                <a:latin typeface="思源宋体"/>
                <a:ea typeface="思源宋体"/>
              </a:rPr>
              <a:t>智慧 · 银龄 · 全 · 生态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A86A"/>
                </a:solidFill>
                <a:latin typeface="思源黑体"/>
                <a:ea typeface="思源黑体"/>
              </a:rPr>
              <a:t>八 个 字 · 四 个 词 · 每 一 个 都 有 明 确 战 略 指 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5303520" cy="3200400"/>
          </a:xfrm>
          <a:prstGeom prst="rect">
            <a:avLst/>
          </a:prstGeom>
          <a:solidFill>
            <a:srgbClr val="1F1B17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8924A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B8924A"/>
                </a:solidFill>
                <a:latin typeface="思源宋体"/>
                <a:ea typeface="思源宋体"/>
              </a:rPr>
              <a:t>智慧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A86A"/>
                </a:solidFill>
                <a:latin typeface="思源黑体"/>
                <a:ea typeface="思源黑体"/>
              </a:rPr>
              <a:t>数字化壁垒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4754880"/>
            <a:ext cx="54864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493776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自研 SaaS + AI 多智能体协同，构建实时闭环。让 AI 从被动响应走向主动守护。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2743200"/>
            <a:ext cx="5303520" cy="3200400"/>
          </a:xfrm>
          <a:prstGeom prst="rect">
            <a:avLst/>
          </a:prstGeom>
          <a:solidFill>
            <a:srgbClr val="1F1B17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8924A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832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B8924A"/>
                </a:solidFill>
                <a:latin typeface="思源宋体"/>
                <a:ea typeface="思源宋体"/>
              </a:rPr>
              <a:t>银龄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A86A"/>
                </a:solidFill>
                <a:latin typeface="思源黑体"/>
                <a:ea typeface="思源黑体"/>
              </a:rPr>
              <a:t>响银龄 · 惠银龄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0" y="4754880"/>
            <a:ext cx="548639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75120" y="493776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自持二级医院构建医疗底座，4 家康养机构作为服务阵地。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303520" cy="3200400"/>
          </a:xfrm>
          <a:prstGeom prst="rect">
            <a:avLst/>
          </a:prstGeom>
          <a:solidFill>
            <a:srgbClr val="1F1B17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175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8924A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832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B8924A"/>
                </a:solidFill>
                <a:latin typeface="思源宋体"/>
                <a:ea typeface="思源宋体"/>
              </a:rPr>
              <a:t>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A86A"/>
                </a:solidFill>
                <a:latin typeface="思源黑体"/>
                <a:ea typeface="思源黑体"/>
              </a:rPr>
              <a:t>七位一体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754880"/>
            <a:ext cx="54864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493776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医、康、养、护、智、学、助——一条生命线贯穿到底。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2743200"/>
            <a:ext cx="5303520" cy="3200400"/>
          </a:xfrm>
          <a:prstGeom prst="rect">
            <a:avLst/>
          </a:prstGeom>
          <a:solidFill>
            <a:srgbClr val="1F1B17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0175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8924A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3832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B8924A"/>
                </a:solidFill>
                <a:latin typeface="思源宋体"/>
                <a:ea typeface="思源宋体"/>
              </a:rPr>
              <a:t>生态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A86A"/>
                </a:solidFill>
                <a:latin typeface="思源黑体"/>
                <a:ea typeface="思源黑体"/>
              </a:rPr>
              <a:t>自生能力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75120" y="4754880"/>
            <a:ext cx="548639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75120" y="493776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每个板块在服务自己用户的同时，都在为其他板块创造价值。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05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使命 · 愿景 · MISSION &amp; VISION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0" y="713232"/>
            <a:ext cx="365760" cy="0"/>
          </a:xfrm>
          <a:prstGeom prst="line">
            <a:avLst/>
          </a:prstGeom>
          <a:ln w="9525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使命 · 愿景 · MISSION &amp; VISION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777240"/>
            <a:ext cx="548640" cy="0"/>
          </a:xfrm>
          <a:prstGeom prst="line">
            <a:avLst/>
          </a:prstGeom>
          <a:ln w="9525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0" y="548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使命 · 愿景 · MISSION &amp;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B1A1A"/>
                </a:solidFill>
                <a:latin typeface="思源黑体"/>
                <a:ea typeface="思源黑体"/>
              </a:rPr>
              <a:t>使 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0A0908"/>
                </a:solidFill>
                <a:latin typeface="思源宋体"/>
                <a:ea typeface="思源宋体"/>
              </a:rPr>
              <a:t>让晚年有光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089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1B17"/>
                </a:solidFill>
                <a:latin typeface="思源宋体"/>
                <a:ea typeface="思源宋体"/>
              </a:rPr>
              <a:t>养老不是「等天黑」，是「把灯点亮」。</a:t>
            </a:r>
          </a:p>
          <a:p>
            <a:pPr algn="ctr"/>
            <a:r>
              <a:rPr sz="1400" b="0">
                <a:solidFill>
                  <a:srgbClr val="1F1B17"/>
                </a:solidFill>
                <a:latin typeface="思源宋体"/>
                <a:ea typeface="思源宋体"/>
              </a:rPr>
              <a:t>每一位长者都值得被认真对待——是被「看见」，是被「善待」。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41848" y="4297680"/>
            <a:ext cx="914400" cy="0"/>
          </a:xfrm>
          <a:prstGeom prst="line">
            <a:avLst/>
          </a:prstGeom>
          <a:ln w="9525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B1A1A"/>
                </a:solidFill>
                <a:latin typeface="思源黑体"/>
                <a:ea typeface="思源黑体"/>
              </a:rPr>
              <a:t>愿 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0A0908"/>
                </a:solidFill>
                <a:latin typeface="思源宋体"/>
                <a:ea typeface="思源宋体"/>
              </a:rPr>
              <a:t>开创享老新时代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035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B17"/>
                </a:solidFill>
                <a:latin typeface="思源宋体"/>
                <a:ea typeface="思源宋体"/>
              </a:rPr>
              <a:t>让「享老」不再是少数人的奢侈品，而是每一个家庭触手可及的日常。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Times New Roman"/>
                <a:ea typeface="Times New Roman"/>
              </a:rPr>
              <a:t>06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核心价值观 · VALUES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21792"/>
            <a:ext cx="3657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核心价值观 ·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5F0E8"/>
                </a:solidFill>
                <a:latin typeface="思源宋体"/>
                <a:ea typeface="思源宋体"/>
              </a:rPr>
              <a:t>心 · 命 · 术 · 德 · 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A86A"/>
                </a:solidFill>
                <a:latin typeface="思源黑体"/>
                <a:ea typeface="思源黑体"/>
              </a:rPr>
              <a:t>五 个 字 · 一 条 价 值 观 的 升 华 路 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0">
                <a:solidFill>
                  <a:srgbClr val="B8924A"/>
                </a:solidFill>
                <a:latin typeface="Times New Roman"/>
                <a:ea typeface="Times New Roman"/>
              </a:rPr>
              <a:t>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敬畏生命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原点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0040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0">
                <a:solidFill>
                  <a:srgbClr val="B8924A"/>
                </a:solidFill>
                <a:latin typeface="Times New Roman"/>
                <a:ea typeface="Times New Roman"/>
              </a:rPr>
              <a:t>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守正立命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029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底线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20040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0">
                <a:solidFill>
                  <a:srgbClr val="B8924A"/>
                </a:solidFill>
                <a:latin typeface="Times New Roman"/>
                <a:ea typeface="Times New Roman"/>
              </a:rPr>
              <a:t>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专业立身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5029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9" y="320040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0">
                <a:solidFill>
                  <a:srgbClr val="B8924A"/>
                </a:solidFill>
                <a:latin typeface="Times New Roman"/>
                <a:ea typeface="Times New Roman"/>
              </a:rPr>
              <a:t>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至诚至善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5029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准则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320040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0">
                <a:solidFill>
                  <a:srgbClr val="B8924A"/>
                </a:solidFill>
                <a:latin typeface="Times New Roman"/>
                <a:ea typeface="Times New Roman"/>
              </a:rPr>
              <a:t>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众志成城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5029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知行合一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41848" y="5852160"/>
            <a:ext cx="9144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28800" y="6035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9A86A"/>
                </a:solidFill>
                <a:latin typeface="思源宋体"/>
                <a:ea typeface="思源宋体"/>
              </a:rPr>
              <a:t>"城，是守护的意象——一座为长者筑起的、有墙有门有灯火的城。"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07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七位一体生态 · ECOSYSTEM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21792"/>
            <a:ext cx="3657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七位一体生态 ·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0E8"/>
                </a:solidFill>
                <a:latin typeface="思源宋体"/>
                <a:ea typeface="思源宋体"/>
              </a:rPr>
              <a:t>从医疗救治到出行无忧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B8924A"/>
                </a:solidFill>
                <a:latin typeface="Times New Roman"/>
                <a:ea typeface="Times New Roman"/>
              </a:rPr>
              <a:t>一条生命线贯穿到底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743200"/>
            <a:ext cx="1384662" cy="0"/>
          </a:xfrm>
          <a:prstGeom prst="line">
            <a:avLst/>
          </a:prstGeom>
          <a:ln w="2540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926080"/>
            <a:ext cx="138466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0">
                <a:solidFill>
                  <a:srgbClr val="B8924A"/>
                </a:solidFill>
                <a:latin typeface="Times New Roman"/>
                <a:ea typeface="Times New Roman"/>
              </a:rPr>
              <a:t>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3846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0E8"/>
                </a:solidFill>
                <a:latin typeface="思源宋体"/>
                <a:ea typeface="思源宋体"/>
              </a:rPr>
              <a:t>安康守护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38466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8924A"/>
                </a:solidFill>
                <a:latin typeface="思源黑体"/>
                <a:ea typeface="思源黑体"/>
              </a:rPr>
              <a:t>医疗底座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07622" y="2743200"/>
            <a:ext cx="1384663" cy="0"/>
          </a:xfrm>
          <a:prstGeom prst="line">
            <a:avLst/>
          </a:prstGeom>
          <a:ln w="2540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07622" y="2926080"/>
            <a:ext cx="138466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0">
                <a:solidFill>
                  <a:srgbClr val="B8924A"/>
                </a:solidFill>
                <a:latin typeface="Times New Roman"/>
                <a:ea typeface="Times New Roman"/>
              </a:rPr>
              <a:t>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7622" y="3840480"/>
            <a:ext cx="13846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0E8"/>
                </a:solidFill>
                <a:latin typeface="思源宋体"/>
                <a:ea typeface="思源宋体"/>
              </a:rPr>
              <a:t>活力重启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7622" y="4297680"/>
            <a:ext cx="138466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8924A"/>
                </a:solidFill>
                <a:latin typeface="思源黑体"/>
                <a:ea typeface="思源黑体"/>
              </a:rPr>
              <a:t>4 家机构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75165" y="2743200"/>
            <a:ext cx="1384663" cy="0"/>
          </a:xfrm>
          <a:prstGeom prst="line">
            <a:avLst/>
          </a:prstGeom>
          <a:ln w="2540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75165" y="2926080"/>
            <a:ext cx="138466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0">
                <a:solidFill>
                  <a:srgbClr val="B8924A"/>
                </a:solidFill>
                <a:latin typeface="Times New Roman"/>
                <a:ea typeface="Times New Roman"/>
              </a:rPr>
              <a:t>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5165" y="3840480"/>
            <a:ext cx="13846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0E8"/>
                </a:solidFill>
                <a:latin typeface="思源宋体"/>
                <a:ea typeface="思源宋体"/>
              </a:rPr>
              <a:t>朝夕相伴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5165" y="4297680"/>
            <a:ext cx="138466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8924A"/>
                </a:solidFill>
                <a:latin typeface="思源黑体"/>
                <a:ea typeface="思源黑体"/>
              </a:rPr>
              <a:t>15 分钟圈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42708" y="2743200"/>
            <a:ext cx="1384663" cy="0"/>
          </a:xfrm>
          <a:prstGeom prst="line">
            <a:avLst/>
          </a:prstGeom>
          <a:ln w="2540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42708" y="2926080"/>
            <a:ext cx="138466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0">
                <a:solidFill>
                  <a:srgbClr val="B8924A"/>
                </a:solidFill>
                <a:latin typeface="Times New Roman"/>
                <a:ea typeface="Times New Roman"/>
              </a:rPr>
              <a:t>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2708" y="3840480"/>
            <a:ext cx="13846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0E8"/>
                </a:solidFill>
                <a:latin typeface="思源宋体"/>
                <a:ea typeface="思源宋体"/>
              </a:rPr>
              <a:t>贴心照护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2708" y="4297680"/>
            <a:ext cx="138466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8924A"/>
                </a:solidFill>
                <a:latin typeface="思源黑体"/>
                <a:ea typeface="思源黑体"/>
              </a:rPr>
              <a:t>持证 90%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10251" y="2743200"/>
            <a:ext cx="1384663" cy="0"/>
          </a:xfrm>
          <a:prstGeom prst="line">
            <a:avLst/>
          </a:prstGeom>
          <a:ln w="25400">
            <a:solidFill>
              <a:srgbClr val="A5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10251" y="2926080"/>
            <a:ext cx="138466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0">
                <a:solidFill>
                  <a:srgbClr val="A52828"/>
                </a:solidFill>
                <a:latin typeface="Times New Roman"/>
                <a:ea typeface="Times New Roman"/>
              </a:rPr>
              <a:t>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0251" y="3840480"/>
            <a:ext cx="13846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0E8"/>
                </a:solidFill>
                <a:latin typeface="思源宋体"/>
                <a:ea typeface="思源宋体"/>
              </a:rPr>
              <a:t>智慧云伴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0251" y="4297680"/>
            <a:ext cx="138466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52828"/>
                </a:solidFill>
                <a:latin typeface="思源黑体"/>
                <a:ea typeface="思源黑体"/>
              </a:rPr>
              <a:t>AI 主动守护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77794" y="2743200"/>
            <a:ext cx="1384663" cy="0"/>
          </a:xfrm>
          <a:prstGeom prst="line">
            <a:avLst/>
          </a:prstGeom>
          <a:ln w="2540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77794" y="2926080"/>
            <a:ext cx="138466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0">
                <a:solidFill>
                  <a:srgbClr val="B8924A"/>
                </a:solidFill>
                <a:latin typeface="Times New Roman"/>
                <a:ea typeface="Times New Roman"/>
              </a:rPr>
              <a:t>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794" y="3840480"/>
            <a:ext cx="13846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0E8"/>
                </a:solidFill>
                <a:latin typeface="思源宋体"/>
                <a:ea typeface="思源宋体"/>
              </a:rPr>
              <a:t>银龄学堂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794" y="4297680"/>
            <a:ext cx="138466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8924A"/>
                </a:solidFill>
                <a:latin typeface="思源黑体"/>
                <a:ea typeface="思源黑体"/>
              </a:rPr>
              <a:t>1500+ 学员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45337" y="2743200"/>
            <a:ext cx="1384662" cy="0"/>
          </a:xfrm>
          <a:prstGeom prst="line">
            <a:avLst/>
          </a:prstGeom>
          <a:ln w="2540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045337" y="2926080"/>
            <a:ext cx="138466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0">
                <a:solidFill>
                  <a:srgbClr val="B8924A"/>
                </a:solidFill>
                <a:latin typeface="Times New Roman"/>
                <a:ea typeface="Times New Roman"/>
              </a:rPr>
              <a:t>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5337" y="3840480"/>
            <a:ext cx="13846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0E8"/>
                </a:solidFill>
                <a:latin typeface="思源宋体"/>
                <a:ea typeface="思源宋体"/>
              </a:rPr>
              <a:t>老有所安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5337" y="4297680"/>
            <a:ext cx="138466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8924A"/>
                </a:solidFill>
                <a:latin typeface="思源黑体"/>
                <a:ea typeface="思源黑体"/>
              </a:rPr>
              <a:t>96120/96360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5029200"/>
            <a:ext cx="9418320" cy="1371600"/>
          </a:xfrm>
          <a:prstGeom prst="rect">
            <a:avLst/>
          </a:prstGeom>
          <a:solidFill>
            <a:srgbClr val="1F1B17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生 态 闭 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B8924A"/>
                </a:solidFill>
                <a:latin typeface="思源宋体"/>
                <a:ea typeface="思源宋体"/>
              </a:rPr>
              <a:t>不是加法，是乘法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03504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每个板块在服务自己用户的同时，都在为其他板块创造价值。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08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差异化根基 · WHY 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21792"/>
            <a:ext cx="3657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差异化根基 · WHY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0E8"/>
                </a:solidFill>
                <a:latin typeface="思源宋体"/>
                <a:ea typeface="思源宋体"/>
              </a:rPr>
              <a:t>三 重 不 可 替 代 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A86A"/>
                </a:solidFill>
                <a:latin typeface="思源黑体"/>
                <a:ea typeface="思源黑体"/>
              </a:rPr>
              <a:t>为什么是他们做不了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4320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0">
                <a:solidFill>
                  <a:srgbClr val="B8924A"/>
                </a:solidFill>
                <a:latin typeface="Times New Roman"/>
                <a:ea typeface="Times New Roman"/>
              </a:rPr>
              <a:t>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4572000"/>
            <a:ext cx="548639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59" y="4754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8924A"/>
                </a:solidFill>
                <a:latin typeface="思源黑体"/>
                <a:ea typeface="思源黑体"/>
              </a:rPr>
              <a:t>医疗底座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1206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自持二级医院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60720"/>
            <a:ext cx="2560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众康康复医院——金华首家二级专科康复医院，为全集团提供医疗底座支撑。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74320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0">
                <a:solidFill>
                  <a:srgbClr val="B8924A"/>
                </a:solidFill>
                <a:latin typeface="Times New Roman"/>
                <a:ea typeface="Times New Roman"/>
              </a:rPr>
              <a:t>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4572000"/>
            <a:ext cx="548639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59" y="4754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8924A"/>
                </a:solidFill>
                <a:latin typeface="思源黑体"/>
                <a:ea typeface="思源黑体"/>
              </a:rPr>
              <a:t>数据闭环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51206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自研 SaaS 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5760720"/>
            <a:ext cx="2560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悦年优护打通全链路数字化，AI 从被动响应走向主动守护。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0">
                <a:solidFill>
                  <a:srgbClr val="B8924A"/>
                </a:solidFill>
                <a:latin typeface="Times New Roman"/>
                <a:ea typeface="Times New Roman"/>
              </a:rPr>
              <a:t>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92640" y="4572000"/>
            <a:ext cx="54864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38160" y="4754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8924A"/>
                </a:solidFill>
                <a:latin typeface="思源黑体"/>
                <a:ea typeface="思源黑体"/>
              </a:rPr>
              <a:t>生态密度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1206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七大板块协同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760720"/>
            <a:ext cx="2560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医康养护智学助互相赋能。三重支撑让「全生态」不是 slogan。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09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1A1A"/>
                </a:solidFill>
                <a:latin typeface="思源黑体"/>
                <a:ea typeface="思源黑体"/>
              </a:rPr>
              <a:t>金华第一 · 浙江标杆 · 全国起点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A0908"/>
                </a:solidFill>
                <a:latin typeface="思源宋体"/>
                <a:ea typeface="思源宋体"/>
              </a:rPr>
              <a:t>行业首创 · 领先成绩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945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2194560"/>
            <a:ext cx="0" cy="1188719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331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医疗康复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金华首家二级专科医院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1945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3429000" y="2194560"/>
            <a:ext cx="0" cy="1188719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11880" y="2331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公建民营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06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金华首个公建民营项目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1945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172200" y="2194560"/>
            <a:ext cx="0" cy="1188719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2331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国企合作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金华首家国企合资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21945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915400" y="2194560"/>
            <a:ext cx="0" cy="1188719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98280" y="2331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居家养老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606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浙江首个街道示范型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5661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85800" y="3566160"/>
            <a:ext cx="0" cy="118872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703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民建民营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7763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金华首家民建民营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5661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429000" y="3566160"/>
            <a:ext cx="0" cy="118872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11880" y="3703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智慧养老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97763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金华首家智慧平台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5661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172200" y="3566160"/>
            <a:ext cx="0" cy="118872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55080" y="3703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老年教育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97763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金华首家民办老年大学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35661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915400" y="3566160"/>
            <a:ext cx="0" cy="118872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098280" y="3703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医养结合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7763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金华首家院院联动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9377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85800" y="4937760"/>
            <a:ext cx="0" cy="118872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68680" y="50749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高端康养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3492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金华首家康养小镇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49377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429000" y="4937760"/>
            <a:ext cx="0" cy="118872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11880" y="50749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非急救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53492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金华首家 96120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49377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172200" y="4937760"/>
            <a:ext cx="0" cy="118872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55080" y="50749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社区嵌入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3492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金华首家综合体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400" y="4937760"/>
            <a:ext cx="2468880" cy="118872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8915400" y="4937760"/>
            <a:ext cx="0" cy="118872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098280" y="50749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1A1A"/>
                </a:solidFill>
                <a:latin typeface="思源黑体"/>
                <a:ea typeface="思源黑体"/>
              </a:rPr>
              <a:t>运营标杆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3492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908"/>
                </a:solidFill>
                <a:latin typeface="思源宋体"/>
                <a:ea typeface="思源宋体"/>
              </a:rPr>
              <a:t>三项第一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Times New Roman"/>
                <a:ea typeface="Times New Roman"/>
              </a:rPr>
              <a:t>10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8924A"/>
                </a:solidFill>
                <a:latin typeface="思源黑体"/>
                <a:ea typeface="思源黑体"/>
              </a:rPr>
              <a:t>用 数 据 证 明 实 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5F0E8"/>
                </a:solidFill>
                <a:latin typeface="思源宋体"/>
                <a:ea typeface="思源宋体"/>
              </a:rPr>
              <a:t>二 十 三 年 硕 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>
                <a:solidFill>
                  <a:srgbClr val="B8924A"/>
                </a:solidFill>
                <a:latin typeface="Times New Roman"/>
                <a:ea typeface="Times New Roman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9A86A"/>
                </a:solidFill>
                <a:latin typeface="思源宋体"/>
                <a:ea typeface="思源宋体"/>
              </a:rPr>
              <a:t>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F0E8"/>
                </a:solidFill>
                <a:latin typeface="思源宋体"/>
                <a:ea typeface="思源宋体"/>
              </a:rPr>
              <a:t>深耕康养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74320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>
                <a:solidFill>
                  <a:srgbClr val="B8924A"/>
                </a:solidFill>
                <a:latin typeface="Times New Roman"/>
                <a:ea typeface="Times New Roman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1089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9A86A"/>
                </a:solidFill>
                <a:latin typeface="思源宋体"/>
                <a:ea typeface="思源宋体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931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F0E8"/>
                </a:solidFill>
                <a:latin typeface="思源宋体"/>
                <a:ea typeface="思源宋体"/>
              </a:rPr>
              <a:t>分支机构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>
                <a:solidFill>
                  <a:srgbClr val="B8924A"/>
                </a:solidFill>
                <a:latin typeface="Times New Roman"/>
                <a:ea typeface="Times New Roman"/>
              </a:rPr>
              <a:t>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9A86A"/>
                </a:solidFill>
                <a:latin typeface="思源宋体"/>
                <a:ea typeface="思源宋体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931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F0E8"/>
                </a:solidFill>
                <a:latin typeface="思源宋体"/>
                <a:ea typeface="思源宋体"/>
              </a:rPr>
              <a:t>管理床位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19" y="274320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>
                <a:solidFill>
                  <a:srgbClr val="B8924A"/>
                </a:solidFill>
                <a:latin typeface="Times New Roman"/>
                <a:ea typeface="Times New Roman"/>
              </a:rPr>
              <a:t>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1089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9A86A"/>
                </a:solidFill>
                <a:latin typeface="思源宋体"/>
                <a:ea typeface="思源宋体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9" y="3931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F0E8"/>
                </a:solidFill>
                <a:latin typeface="思源宋体"/>
                <a:ea typeface="思源宋体"/>
              </a:rPr>
              <a:t>集团员工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>
                <a:solidFill>
                  <a:srgbClr val="B8924A"/>
                </a:solidFill>
                <a:latin typeface="Times New Roman"/>
                <a:ea typeface="Times New Roman"/>
              </a:rPr>
              <a:t>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9A86A"/>
                </a:solidFill>
                <a:latin typeface="思源宋体"/>
                <a:ea typeface="思源宋体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F0E8"/>
                </a:solidFill>
                <a:latin typeface="思源宋体"/>
                <a:ea typeface="思源宋体"/>
              </a:rPr>
              <a:t>入住率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57200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>
                <a:solidFill>
                  <a:srgbClr val="B8924A"/>
                </a:solidFill>
                <a:latin typeface="Times New Roman"/>
                <a:ea typeface="Times New Roman"/>
              </a:rPr>
              <a:t>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937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9A86A"/>
                </a:solidFill>
                <a:latin typeface="思源宋体"/>
                <a:ea typeface="思源宋体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760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F0E8"/>
                </a:solidFill>
                <a:latin typeface="思源宋体"/>
                <a:ea typeface="思源宋体"/>
              </a:rPr>
              <a:t>持证率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57200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>
                <a:solidFill>
                  <a:srgbClr val="B8924A"/>
                </a:solidFill>
                <a:latin typeface="Times New Roman"/>
                <a:ea typeface="Times New Roman"/>
              </a:rPr>
              <a:t>30000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37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9A86A"/>
                </a:solidFill>
                <a:latin typeface="思源宋体"/>
                <a:ea typeface="思源宋体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760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F0E8"/>
                </a:solidFill>
                <a:latin typeface="思源宋体"/>
                <a:ea typeface="思源宋体"/>
              </a:rPr>
              <a:t>服务家庭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457200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>
                <a:solidFill>
                  <a:srgbClr val="B8924A"/>
                </a:solidFill>
                <a:latin typeface="Times New Roman"/>
                <a:ea typeface="Times New Roman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937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9A86A"/>
                </a:solidFill>
                <a:latin typeface="思源宋体"/>
                <a:ea typeface="思源宋体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5760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F0E8"/>
                </a:solidFill>
                <a:latin typeface="思源宋体"/>
                <a:ea typeface="思源宋体"/>
              </a:rPr>
              <a:t>省市荣誉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41848" y="5943600"/>
            <a:ext cx="9144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28800" y="6126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A86A"/>
                </a:solidFill>
                <a:latin typeface="思源黑体"/>
                <a:ea typeface="思源黑体"/>
              </a:rPr>
              <a:t>23 YEARS · 13 YEARS · NEXT 5 YEARS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11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457200"/>
            <a:ext cx="3657600" cy="548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0" b="0">
                <a:solidFill>
                  <a:srgbClr val="2C2823"/>
                </a:solidFill>
                <a:latin typeface="Times New Roman"/>
                <a:ea typeface="Times New Roman"/>
              </a:rPr>
              <a:t>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743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CHAPTER TWO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2907792"/>
            <a:ext cx="3657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0" y="2743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CHAPTER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29184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5F0E8"/>
                </a:solidFill>
                <a:latin typeface="思源宋体"/>
                <a:ea typeface="思源宋体"/>
              </a:rPr>
              <a:t>战 略 蓝 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4572000"/>
            <a:ext cx="13716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0" y="475488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9A86A"/>
                </a:solidFill>
                <a:latin typeface="思源黑体"/>
                <a:ea typeface="思源黑体"/>
              </a:rPr>
              <a:t>走出浙江，以市场化招商为切入点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2064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9A86A"/>
                </a:solidFill>
                <a:latin typeface="思源黑体"/>
                <a:ea typeface="思源黑体"/>
              </a:rPr>
              <a:t>从区域龙头迈向全国化品牌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12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战 略 思 想 · STRATEGIC MINDSET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21792"/>
            <a:ext cx="3657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战 略 思 想 · STRATEGIC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0E8"/>
                </a:solidFill>
                <a:latin typeface="思源宋体"/>
                <a:ea typeface="思源宋体"/>
              </a:rPr>
              <a:t>打胜内心的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B8924A"/>
                </a:solidFill>
                <a:latin typeface="思源宋体"/>
                <a:ea typeface="思源宋体"/>
              </a:rPr>
              <a:t>「持 久 战」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383280"/>
            <a:ext cx="12801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A86A"/>
                </a:solidFill>
                <a:latin typeface="思源宋体"/>
                <a:ea typeface="思源宋体"/>
              </a:rPr>
              <a:t>"一切困难的根源，就在于自己内心的『持久战』。"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09728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>
                <a:solidFill>
                  <a:srgbClr val="B8924A"/>
                </a:solidFill>
                <a:latin typeface="Times New Roman"/>
                <a:ea typeface="Times New Roman"/>
              </a:rPr>
              <a:t>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1430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坚定志向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方向对了，每天都是黄金时代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74320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>
                <a:solidFill>
                  <a:srgbClr val="B8924A"/>
                </a:solidFill>
                <a:latin typeface="Times New Roman"/>
                <a:ea typeface="Times New Roman"/>
              </a:rPr>
              <a:t>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889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内心坚定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要想占领别人的思想，必须先占领自己的思想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8912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>
                <a:solidFill>
                  <a:srgbClr val="B8924A"/>
                </a:solidFill>
                <a:latin typeface="Times New Roman"/>
                <a:ea typeface="Times New Roman"/>
              </a:rPr>
              <a:t>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34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0E8"/>
                </a:solidFill>
                <a:latin typeface="思源宋体"/>
                <a:ea typeface="思源宋体"/>
              </a:rPr>
              <a:t>长期行动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46320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650"/>
                </a:solidFill>
                <a:latin typeface="思源黑体"/>
                <a:ea typeface="思源黑体"/>
              </a:rPr>
              <a:t>温度不在一次性的热情里，是在日复一日的坚持中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13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8924A"/>
                </a:solidFill>
                <a:latin typeface="思源黑体"/>
                <a:ea typeface="思源黑体"/>
              </a:rPr>
              <a:t>2026 — 2030 · 五年战略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5F0E8"/>
                </a:solidFill>
                <a:latin typeface="思源宋体"/>
                <a:ea typeface="思源宋体"/>
              </a:rPr>
              <a:t>从金华标杆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B8924A"/>
                </a:solidFill>
                <a:latin typeface="Times New Roman"/>
                <a:ea typeface="Times New Roman"/>
              </a:rPr>
              <a:t>到全国化布局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2743200"/>
            <a:ext cx="731520" cy="731520"/>
          </a:xfrm>
          <a:prstGeom prst="ellipse">
            <a:avLst/>
          </a:prstGeom>
          <a:solidFill>
            <a:srgbClr val="0A0908"/>
          </a:solidFill>
          <a:ln w="25400">
            <a:solidFill>
              <a:srgbClr val="A5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78892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52828"/>
                </a:solidFill>
                <a:latin typeface="Times New Roman"/>
                <a:ea typeface="Times New Roman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52828"/>
                </a:solidFill>
                <a:latin typeface="思源黑体"/>
                <a:ea typeface="思源黑体"/>
              </a:rPr>
              <a:t>2026 · 市场化元年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0E8"/>
                </a:solidFill>
                <a:latin typeface="思源宋体"/>
                <a:ea typeface="思源宋体"/>
              </a:rPr>
              <a:t>3 家模型店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2743200"/>
            <a:ext cx="731520" cy="731520"/>
          </a:xfrm>
          <a:prstGeom prst="ellipse">
            <a:avLst/>
          </a:prstGeom>
          <a:solidFill>
            <a:srgbClr val="0A0908"/>
          </a:solidFill>
          <a:ln w="25400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78892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8924A"/>
                </a:solidFill>
                <a:latin typeface="Times New Roman"/>
                <a:ea typeface="Times New Roman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657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2027 · 长三角扩张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0233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0E8"/>
                </a:solidFill>
                <a:latin typeface="思源宋体"/>
                <a:ea typeface="思源宋体"/>
              </a:rPr>
              <a:t>10-15 家</a:t>
            </a:r>
          </a:p>
        </p:txBody>
      </p:sp>
      <p:sp>
        <p:nvSpPr>
          <p:cNvPr id="13" name="Oval 12"/>
          <p:cNvSpPr/>
          <p:nvPr/>
        </p:nvSpPr>
        <p:spPr>
          <a:xfrm>
            <a:off x="5852159" y="2743200"/>
            <a:ext cx="731520" cy="731520"/>
          </a:xfrm>
          <a:prstGeom prst="ellipse">
            <a:avLst/>
          </a:prstGeom>
          <a:solidFill>
            <a:srgbClr val="0A0908"/>
          </a:solidFill>
          <a:ln w="25400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278892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8924A"/>
                </a:solidFill>
                <a:latin typeface="Times New Roman"/>
                <a:ea typeface="Times New Roman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657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2028 · 深耕年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0233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0E8"/>
                </a:solidFill>
                <a:latin typeface="思源宋体"/>
                <a:ea typeface="思源宋体"/>
              </a:rPr>
              <a:t>100+ 站点</a:t>
            </a:r>
          </a:p>
        </p:txBody>
      </p:sp>
      <p:sp>
        <p:nvSpPr>
          <p:cNvPr id="17" name="Oval 16"/>
          <p:cNvSpPr/>
          <p:nvPr/>
        </p:nvSpPr>
        <p:spPr>
          <a:xfrm>
            <a:off x="8046719" y="2743200"/>
            <a:ext cx="731520" cy="731520"/>
          </a:xfrm>
          <a:prstGeom prst="ellipse">
            <a:avLst/>
          </a:prstGeom>
          <a:solidFill>
            <a:srgbClr val="0A0908"/>
          </a:solidFill>
          <a:ln w="25400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278892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8924A"/>
                </a:solidFill>
                <a:latin typeface="Times New Roman"/>
                <a:ea typeface="Times New Roman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3657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2029 · 突破年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9" y="40233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0E8"/>
                </a:solidFill>
                <a:latin typeface="思源宋体"/>
                <a:ea typeface="思源宋体"/>
              </a:rPr>
              <a:t>500+ 城市</a:t>
            </a:r>
          </a:p>
        </p:txBody>
      </p:sp>
      <p:sp>
        <p:nvSpPr>
          <p:cNvPr id="21" name="Oval 20"/>
          <p:cNvSpPr/>
          <p:nvPr/>
        </p:nvSpPr>
        <p:spPr>
          <a:xfrm>
            <a:off x="10241279" y="2743200"/>
            <a:ext cx="731520" cy="731520"/>
          </a:xfrm>
          <a:prstGeom prst="ellipse">
            <a:avLst/>
          </a:prstGeom>
          <a:solidFill>
            <a:srgbClr val="0A0908"/>
          </a:solidFill>
          <a:ln w="25400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79" y="278892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8924A"/>
                </a:solidFill>
                <a:latin typeface="Times New Roman"/>
                <a:ea typeface="Times New Roman"/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3657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2030 · 腾飞年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40233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0E8"/>
                </a:solidFill>
                <a:latin typeface="思源宋体"/>
                <a:ea typeface="思源宋体"/>
              </a:rPr>
              <a:t>千城万店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71600" y="3108960"/>
            <a:ext cx="91440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371600" y="5029200"/>
            <a:ext cx="9418320" cy="1371600"/>
          </a:xfrm>
          <a:prstGeom prst="rect">
            <a:avLst/>
          </a:prstGeom>
          <a:solidFill>
            <a:srgbClr val="1F1B17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120640"/>
            <a:ext cx="9418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8924A"/>
                </a:solidFill>
                <a:latin typeface="思源黑体"/>
                <a:ea typeface="思源黑体"/>
              </a:rPr>
              <a:t>五 年 关 键 指 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4406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B8924A"/>
                </a:solidFill>
                <a:latin typeface="Times New Roman"/>
                <a:ea typeface="Times New Roman"/>
              </a:rPr>
              <a:t>3+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989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2026 模型店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4406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B8924A"/>
                </a:solidFill>
                <a:latin typeface="Times New Roman"/>
                <a:ea typeface="Times New Roman"/>
              </a:rPr>
              <a:t>10+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989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2027 长三角门店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54406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B8924A"/>
                </a:solidFill>
                <a:latin typeface="Times New Roman"/>
                <a:ea typeface="Times New Roman"/>
              </a:rPr>
              <a:t>100+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989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2028 合作站点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4406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B8924A"/>
                </a:solidFill>
                <a:latin typeface="Times New Roman"/>
                <a:ea typeface="Times New Roman"/>
              </a:rPr>
              <a:t>500+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989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2029 城市覆盖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4406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B8924A"/>
                </a:solidFill>
                <a:latin typeface="Times New Roman"/>
                <a:ea typeface="Times New Roman"/>
              </a:rPr>
              <a:t>1000+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5989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2030 万店愿景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14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1A1A"/>
                </a:solidFill>
                <a:latin typeface="思源黑体"/>
                <a:ea typeface="思源黑体"/>
              </a:rPr>
              <a:t>让合作伙伴快速启动 · 稳健盈利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A0908"/>
                </a:solidFill>
                <a:latin typeface="思源宋体"/>
                <a:ea typeface="思源宋体"/>
              </a:rPr>
              <a:t>八大招商赋能体系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思源黑体"/>
                <a:ea typeface="思源黑体"/>
              </a:rPr>
              <a:t>2026 年标杆落地 · 打造可复制的成功样板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68880"/>
            <a:ext cx="2468880" cy="128016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85800" y="2468880"/>
            <a:ext cx="0" cy="128016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26060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6517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908"/>
                </a:solidFill>
                <a:latin typeface="思源宋体"/>
                <a:ea typeface="思源宋体"/>
              </a:rPr>
              <a:t>品牌赋能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1089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1B17"/>
                </a:solidFill>
                <a:latin typeface="思源黑体"/>
                <a:ea typeface="思源黑体"/>
              </a:rPr>
              <a:t>统一 VI / 品牌手册 / 宣传物料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468880"/>
            <a:ext cx="2468880" cy="128016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429000" y="2468880"/>
            <a:ext cx="0" cy="128016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03320" y="26060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517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908"/>
                </a:solidFill>
                <a:latin typeface="思源宋体"/>
                <a:ea typeface="思源宋体"/>
              </a:rPr>
              <a:t>运营赋能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1089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1B17"/>
                </a:solidFill>
                <a:latin typeface="思源黑体"/>
                <a:ea typeface="思源黑体"/>
              </a:rPr>
              <a:t>标准化 SOP / 服务流程 / 质控体系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468880"/>
            <a:ext cx="2468880" cy="128016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172200" y="2468880"/>
            <a:ext cx="0" cy="128016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46520" y="26060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517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908"/>
                </a:solidFill>
                <a:latin typeface="思源宋体"/>
                <a:ea typeface="思源宋体"/>
              </a:rPr>
              <a:t>技术赋能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1B17"/>
                </a:solidFill>
                <a:latin typeface="思源黑体"/>
                <a:ea typeface="思源黑体"/>
              </a:rPr>
              <a:t>悦年优护平台 / 智能设备 / 数据中台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2468880"/>
            <a:ext cx="2468880" cy="128016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915400" y="2468880"/>
            <a:ext cx="0" cy="128016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89720" y="26060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6517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908"/>
                </a:solidFill>
                <a:latin typeface="思源宋体"/>
                <a:ea typeface="思源宋体"/>
              </a:rPr>
              <a:t>培训赋能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31089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1B17"/>
                </a:solidFill>
                <a:latin typeface="思源黑体"/>
                <a:ea typeface="思源黑体"/>
              </a:rPr>
              <a:t>院长 / 护理员 / 客服 / 销售全岗位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931920"/>
            <a:ext cx="2468880" cy="128016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85800" y="3931920"/>
            <a:ext cx="0" cy="128016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60120" y="4069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1148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908"/>
                </a:solidFill>
                <a:latin typeface="思源宋体"/>
                <a:ea typeface="思源宋体"/>
              </a:rPr>
              <a:t>供应链赋能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5720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1B17"/>
                </a:solidFill>
                <a:latin typeface="思源黑体"/>
                <a:ea typeface="思源黑体"/>
              </a:rPr>
              <a:t>老年用品 / 康复辅具 / 食材集采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3931920"/>
            <a:ext cx="2468880" cy="128016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429000" y="3931920"/>
            <a:ext cx="0" cy="128016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703320" y="4069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Times New Roman"/>
                <a:ea typeface="Times New Roman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1148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908"/>
                </a:solidFill>
                <a:latin typeface="思源宋体"/>
                <a:ea typeface="思源宋体"/>
              </a:rPr>
              <a:t>营销赋能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5720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1B17"/>
                </a:solidFill>
                <a:latin typeface="思源黑体"/>
                <a:ea typeface="思源黑体"/>
              </a:rPr>
              <a:t>地推方案 / 社群运营 / 线上线下获客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931920"/>
            <a:ext cx="2468880" cy="128016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172200" y="3931920"/>
            <a:ext cx="0" cy="128016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46520" y="4069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Times New Roman"/>
                <a:ea typeface="Times New Roman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1148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908"/>
                </a:solidFill>
                <a:latin typeface="思源宋体"/>
                <a:ea typeface="思源宋体"/>
              </a:rPr>
              <a:t>资源赋能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5720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1B17"/>
                </a:solidFill>
                <a:latin typeface="思源黑体"/>
                <a:ea typeface="思源黑体"/>
              </a:rPr>
              <a:t>政府关系 / 医保对接 / 公建民营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3931920"/>
            <a:ext cx="2468880" cy="1280160"/>
          </a:xfrm>
          <a:prstGeom prst="rect">
            <a:avLst/>
          </a:prstGeom>
          <a:solidFill>
            <a:srgbClr val="FAF8F4"/>
          </a:solidFill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8915400" y="3931920"/>
            <a:ext cx="0" cy="1280160"/>
          </a:xfrm>
          <a:prstGeom prst="line">
            <a:avLst/>
          </a:prstGeom>
          <a:ln w="381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89720" y="4069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B1A1A"/>
                </a:solidFill>
                <a:latin typeface="Times New Roman"/>
                <a:ea typeface="Times New Roman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41148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908"/>
                </a:solidFill>
                <a:latin typeface="思源宋体"/>
                <a:ea typeface="思源宋体"/>
              </a:rPr>
              <a:t>金融赋能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45720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1B17"/>
                </a:solidFill>
                <a:latin typeface="思源黑体"/>
                <a:ea typeface="思源黑体"/>
              </a:rPr>
              <a:t>选址评估 / 投资模型 / 融资方案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B1A1A"/>
                </a:solidFill>
                <a:latin typeface="思源黑体"/>
                <a:ea typeface="思源黑体"/>
              </a:rPr>
              <a:t>三 家 模 型 店 · 杭 州 · 宁 波 · 金 华 周 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Times New Roman"/>
                <a:ea typeface="Times New Roman"/>
              </a:rPr>
              <a:t>15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457200"/>
            <a:ext cx="3657600" cy="548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0" b="0">
                <a:solidFill>
                  <a:srgbClr val="2C2823"/>
                </a:solidFill>
                <a:latin typeface="Times New Roman"/>
                <a:ea typeface="Times New Roman"/>
              </a:rPr>
              <a:t>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743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CHAPTER THREE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2907792"/>
            <a:ext cx="3657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0" y="2743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CHAPTER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29184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5F0E8"/>
                </a:solidFill>
                <a:latin typeface="思源宋体"/>
                <a:ea typeface="思源宋体"/>
              </a:rPr>
              <a:t>使命与承诺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4572000"/>
            <a:ext cx="13716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0" y="475488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9A86A"/>
                </a:solidFill>
                <a:latin typeface="思源黑体"/>
                <a:ea typeface="思源黑体"/>
              </a:rPr>
              <a:t>银龄事业，吾辈担当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2064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9A86A"/>
                </a:solidFill>
                <a:latin typeface="思源黑体"/>
                <a:ea typeface="思源黑体"/>
              </a:rPr>
              <a:t>走出浙江，是中国众邦人的下一场远征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16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四 份 承 诺 · FOUR COMMITMENTS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21792"/>
            <a:ext cx="36576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24A"/>
                </a:solidFill>
                <a:latin typeface="思源黑体"/>
                <a:ea typeface="思源黑体"/>
              </a:rPr>
              <a:t>四 份 承 诺 · FOUR COMMITMENTS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5F0E8"/>
                </a:solidFill>
                <a:latin typeface="思源宋体"/>
                <a:ea typeface="思源宋体"/>
              </a:rPr>
              <a:t>这份发心，凝结为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B8924A"/>
                </a:solidFill>
                <a:latin typeface="思源宋体"/>
                <a:ea typeface="思源宋体"/>
              </a:rPr>
              <a:t>四 份 承 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43200"/>
            <a:ext cx="5303519" cy="0"/>
          </a:xfrm>
          <a:prstGeom prst="line">
            <a:avLst/>
          </a:prstGeom>
          <a:ln w="2540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80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>
                <a:solidFill>
                  <a:srgbClr val="B8924A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80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对长者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004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0E8"/>
                </a:solidFill>
                <a:latin typeface="思源宋体"/>
                <a:ea typeface="思源宋体"/>
              </a:rPr>
              <a:t>不负托付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思源黑体"/>
                <a:ea typeface="思源黑体"/>
              </a:rPr>
              <a:t>您将一生中最值得、最应有尊严的阶段托付给我们——我们交还的是全生态的生命守护。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09359" y="2743200"/>
            <a:ext cx="5303521" cy="0"/>
          </a:xfrm>
          <a:prstGeom prst="line">
            <a:avLst/>
          </a:prstGeom>
          <a:ln w="2540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09359" y="2880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>
                <a:solidFill>
                  <a:srgbClr val="B8924A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880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924A"/>
                </a:solidFill>
                <a:latin typeface="思源黑体"/>
                <a:ea typeface="思源黑体"/>
              </a:rPr>
              <a:t>对员工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32004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0E8"/>
                </a:solidFill>
                <a:latin typeface="思源宋体"/>
                <a:ea typeface="思源宋体"/>
              </a:rPr>
              <a:t>不负年华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7033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思源黑体"/>
                <a:ea typeface="思源黑体"/>
              </a:rPr>
              <a:t>每一个选择养老行业的人，心里都有一团火。众邦不让这团火在琐碎中熄灭。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617720"/>
            <a:ext cx="5303519" cy="0"/>
          </a:xfrm>
          <a:prstGeom prst="line">
            <a:avLst/>
          </a:prstGeom>
          <a:ln w="25400">
            <a:solidFill>
              <a:srgbClr val="A5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7548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>
                <a:solidFill>
                  <a:srgbClr val="A52828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52828"/>
                </a:solidFill>
                <a:latin typeface="思源黑体"/>
                <a:ea typeface="思源黑体"/>
              </a:rPr>
              <a:t>对企业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749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0E8"/>
                </a:solidFill>
                <a:latin typeface="思源宋体"/>
                <a:ea typeface="思源宋体"/>
              </a:rPr>
              <a:t>不负初心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思源黑体"/>
                <a:ea typeface="思源黑体"/>
              </a:rPr>
              <a:t>二十三年持续经营，不是靠运气，是靠每一步都走在初心上。众邦可以慢，不能偏。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09359" y="4617720"/>
            <a:ext cx="5303521" cy="0"/>
          </a:xfrm>
          <a:prstGeom prst="line">
            <a:avLst/>
          </a:prstGeom>
          <a:ln w="25400">
            <a:solidFill>
              <a:srgbClr val="A5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09359" y="47548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>
                <a:solidFill>
                  <a:srgbClr val="A52828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754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52828"/>
                </a:solidFill>
                <a:latin typeface="思源黑体"/>
                <a:ea typeface="思源黑体"/>
              </a:rPr>
              <a:t>对社会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50749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0E8"/>
                </a:solidFill>
                <a:latin typeface="思源宋体"/>
                <a:ea typeface="思源宋体"/>
              </a:rPr>
              <a:t>不负时代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557784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思源黑体"/>
                <a:ea typeface="思源黑体"/>
              </a:rPr>
              <a:t>2.4 亿老龄人口不是数字，是 2.4 亿个真实的人生。众邦不做旁观者，做答卷人。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17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0" y="914400"/>
            <a:ext cx="1828800" cy="0"/>
          </a:xfrm>
          <a:prstGeom prst="line">
            <a:avLst/>
          </a:prstGeom>
          <a:ln w="9525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7315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52828"/>
                </a:solidFill>
                <a:latin typeface="思源黑体"/>
                <a:ea typeface="思源黑体"/>
              </a:rPr>
              <a:t>CONSECRATION · 承 诺 誓 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5F0E8"/>
                </a:solidFill>
                <a:latin typeface="思源宋体"/>
                <a:ea typeface="思源宋体"/>
              </a:rPr>
              <a:t>众邦康养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>
                <a:solidFill>
                  <a:srgbClr val="A52828"/>
                </a:solidFill>
                <a:latin typeface="思源宋体"/>
                <a:ea typeface="思源宋体"/>
              </a:rPr>
              <a:t>承 诺 誓 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383280"/>
            <a:ext cx="1188720" cy="1188720"/>
          </a:xfrm>
          <a:prstGeom prst="rect">
            <a:avLst/>
          </a:prstGeom>
          <a:solidFill>
            <a:srgbClr val="0A0908"/>
          </a:solidFill>
          <a:ln w="254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3520440"/>
            <a:ext cx="1188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思源宋体"/>
                <a:ea typeface="思源宋体"/>
              </a:rPr>
              <a:t>众邦</a:t>
            </a:r>
          </a:p>
          <a:p>
            <a:pPr algn="ctr"/>
            <a:r>
              <a:rPr sz="1600" b="1">
                <a:solidFill>
                  <a:srgbClr val="8B1A1A"/>
                </a:solidFill>
                <a:latin typeface="思源宋体"/>
                <a:ea typeface="思源宋体"/>
              </a:rPr>
              <a:t>康养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572000"/>
            <a:ext cx="7619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我志愿投身中国银龄生态事业，</a:t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以敬畏之心守护每一位长者，</a:t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以专业之力兑现每一份托付。</a:t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走出浙江，是我们的远征；</a:t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布局全国，是我们的使命。</a:t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/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我承诺——</a:t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敬畏生命，守正立命；</a:t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专业立身，至诚至善；</a:t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众志成城，久久为功。</a:t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/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打胜内心的「持久战」，让养老成为享老，</a:t>
            </a:r>
          </a:p>
          <a:p>
            <a:pPr algn="ctr"/>
            <a:r>
              <a:rPr sz="1200" b="0">
                <a:solidFill>
                  <a:srgbClr val="F5F0E8"/>
                </a:solidFill>
                <a:latin typeface="思源宋体"/>
                <a:ea typeface="思源宋体"/>
              </a:rPr>
              <a:t>为中国银龄生态事业发展，贡献卓越创新的众邦力量！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52828"/>
                </a:solidFill>
                <a:latin typeface="思源黑体"/>
                <a:ea typeface="思源黑体"/>
              </a:rPr>
              <a:t>—— 众邦康养全体同仁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52828"/>
                </a:solidFill>
                <a:latin typeface="Times New Roman"/>
                <a:ea typeface="Times New Roman"/>
              </a:rPr>
              <a:t>18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8924A"/>
                </a:solidFill>
                <a:latin typeface="思源黑体"/>
                <a:ea typeface="思源黑体"/>
              </a:rPr>
              <a:t>EPILOGUE · 结 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5F0E8"/>
                </a:solidFill>
                <a:latin typeface="思源宋体"/>
                <a:ea typeface="思源宋体"/>
              </a:rPr>
              <a:t>二十三年深耕，我们用行动证明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5F0E8"/>
                </a:solidFill>
                <a:latin typeface="思源宋体"/>
                <a:ea typeface="思源宋体"/>
              </a:rPr>
              <a:t>下一个十年，我们用战略领航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41848" y="2743200"/>
            <a:ext cx="9144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3017520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5F0E8"/>
                </a:solidFill>
                <a:latin typeface="思源宋体"/>
                <a:ea typeface="思源宋体"/>
              </a:rPr>
              <a:t>走出浙江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0">
                <a:solidFill>
                  <a:srgbClr val="B8924A"/>
                </a:solidFill>
                <a:latin typeface="Times New Roman"/>
                <a:ea typeface="Times New Roman"/>
              </a:rPr>
              <a:t>共赢银龄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B8924A"/>
                </a:solidFill>
                <a:latin typeface="思源宋体"/>
                <a:ea typeface="思源宋体"/>
              </a:rPr>
              <a:t>共 创 享 老 新 时 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5760720"/>
            <a:ext cx="4572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0" y="55778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5F0E8"/>
                </a:solidFill>
                <a:latin typeface="思源黑体"/>
                <a:ea typeface="思源黑体"/>
              </a:rPr>
              <a:t>众 邦 康 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0" y="5760720"/>
            <a:ext cx="457200" cy="0"/>
          </a:xfrm>
          <a:prstGeom prst="line">
            <a:avLst/>
          </a:prstGeom>
          <a:ln w="9525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9A86A"/>
                </a:solidFill>
                <a:latin typeface="思源宋体"/>
                <a:ea typeface="思源宋体"/>
              </a:rPr>
              <a:t>医 · 康 · 养 · 护 · 智 · 学 · 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A86A"/>
                </a:solidFill>
                <a:latin typeface="思源黑体"/>
                <a:ea typeface="思源黑体"/>
              </a:rPr>
              <a:t>智守万家 · 银发无忧 · 放心服务 · 值得托付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924A"/>
                </a:solidFill>
                <a:latin typeface="Times New Roman"/>
                <a:ea typeface="Times New Roman"/>
              </a:rPr>
              <a:t>19</a:t>
            </a:r>
            <a:r>
              <a:rPr sz="900" b="0">
                <a:solidFill>
                  <a:srgbClr val="C9A86A"/>
                </a:solidFill>
                <a:latin typeface="思源黑体"/>
                <a:ea typeface="思源黑体"/>
              </a:rPr>
              <a:t>  / 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